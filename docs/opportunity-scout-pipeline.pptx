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058400" cy="444398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44876"/>
            <a:ext cx="645202" cy="15087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792" b="1">
                <a:solidFill>
                  <a:srgbClr val="9E9E9E"/>
                </a:solidFill>
                <a:latin typeface="Arial"/>
              </a:rPr>
              <a:t>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50208" y="244876"/>
            <a:ext cx="484454" cy="15087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792" b="1">
                <a:solidFill>
                  <a:srgbClr val="9E9E9E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19088" y="244876"/>
            <a:ext cx="527253" cy="15087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792" b="1">
                <a:solidFill>
                  <a:srgbClr val="9E9E9E"/>
                </a:solidFill>
                <a:latin typeface="Arial"/>
              </a:rPr>
              <a:t>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11312" y="244876"/>
            <a:ext cx="653769" cy="15087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792" b="1">
                <a:solidFill>
                  <a:srgbClr val="9E9E9E"/>
                </a:solidFill>
                <a:latin typeface="Arial"/>
              </a:rPr>
              <a:t>SAVED TO</a:t>
            </a:r>
          </a:p>
        </p:txBody>
      </p:sp>
      <p:sp>
        <p:nvSpPr>
          <p:cNvPr id="6" name="Oval 5"/>
          <p:cNvSpPr/>
          <p:nvPr/>
        </p:nvSpPr>
        <p:spPr>
          <a:xfrm>
            <a:off x="347472" y="530352"/>
            <a:ext cx="219456" cy="21945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2614" y="561624"/>
            <a:ext cx="149171" cy="17830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936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55223"/>
            <a:ext cx="809612" cy="19202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08" b="1">
                <a:solidFill>
                  <a:srgbClr val="1A1A1A"/>
                </a:solidFill>
                <a:latin typeface="Arial"/>
              </a:rPr>
              <a:t>Databases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0208" y="570219"/>
            <a:ext cx="1328537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864" b="0">
                <a:solidFill>
                  <a:srgbClr val="757575"/>
                </a:solidFill>
                <a:latin typeface="Arial"/>
              </a:rPr>
              <a:t>read directly with 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813816"/>
            <a:ext cx="2084832" cy="237744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10972">
            <a:solidFill>
              <a:srgbClr val="BDBDB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database_1A1A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723" y="859536"/>
            <a:ext cx="135049" cy="14630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24128" y="853500"/>
            <a:ext cx="1342159" cy="17830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936" b="0">
                <a:solidFill>
                  <a:srgbClr val="1A1A1A"/>
                </a:solidFill>
                <a:latin typeface="Arial"/>
              </a:rPr>
              <a:t>Grants.gov database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43200" y="932688"/>
            <a:ext cx="292608" cy="0"/>
          </a:xfrm>
          <a:prstGeom prst="line">
            <a:avLst/>
          </a:prstGeom>
          <a:ln w="13716">
            <a:solidFill>
              <a:srgbClr val="6E6E6E"/>
            </a:solidFill>
          </a:ln>
          <a:effectLst/>
        </p:spPr>
      </p:cxnSp>
      <p:sp>
        <p:nvSpPr>
          <p:cNvPr id="14" name="Rounded Rectangle 13"/>
          <p:cNvSpPr/>
          <p:nvPr/>
        </p:nvSpPr>
        <p:spPr>
          <a:xfrm>
            <a:off x="658368" y="1106424"/>
            <a:ext cx="2084832" cy="237744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10972">
            <a:solidFill>
              <a:srgbClr val="BDBDB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rss_1A1A1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152144"/>
            <a:ext cx="146304" cy="14630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24128" y="1146108"/>
            <a:ext cx="1258365" cy="17830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936" b="0">
                <a:solidFill>
                  <a:srgbClr val="1A1A1A"/>
                </a:solidFill>
                <a:latin typeface="Arial"/>
              </a:rPr>
              <a:t>NIH and NSF feeds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743200" y="1225296"/>
            <a:ext cx="292608" cy="0"/>
          </a:xfrm>
          <a:prstGeom prst="line">
            <a:avLst/>
          </a:prstGeom>
          <a:ln w="13716">
            <a:solidFill>
              <a:srgbClr val="6E6E6E"/>
            </a:solidFill>
          </a:ln>
          <a:effectLst/>
        </p:spPr>
      </p:cxnSp>
      <p:sp>
        <p:nvSpPr>
          <p:cNvPr id="18" name="Rounded Rectangle 17"/>
          <p:cNvSpPr/>
          <p:nvPr/>
        </p:nvSpPr>
        <p:spPr>
          <a:xfrm>
            <a:off x="658368" y="1399032"/>
            <a:ext cx="2084832" cy="237744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10972">
            <a:solidFill>
              <a:srgbClr val="BDBDB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briefcase_1A1A1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1450379"/>
            <a:ext cx="146304" cy="13504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24128" y="1438716"/>
            <a:ext cx="1326823" cy="17830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936" b="0">
                <a:solidFill>
                  <a:srgbClr val="1A1A1A"/>
                </a:solidFill>
                <a:latin typeface="Arial"/>
              </a:rPr>
              <a:t>Employer job boards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743200" y="1517904"/>
            <a:ext cx="292608" cy="0"/>
          </a:xfrm>
          <a:prstGeom prst="line">
            <a:avLst/>
          </a:prstGeom>
          <a:ln w="13716">
            <a:solidFill>
              <a:srgbClr val="6E6E6E"/>
            </a:solidFill>
          </a:ln>
          <a:effectLst/>
        </p:spPr>
      </p:cxnSp>
      <p:sp>
        <p:nvSpPr>
          <p:cNvPr id="22" name="Oval 21"/>
          <p:cNvSpPr/>
          <p:nvPr/>
        </p:nvSpPr>
        <p:spPr>
          <a:xfrm>
            <a:off x="347472" y="1792224"/>
            <a:ext cx="219456" cy="21945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2614" y="1823496"/>
            <a:ext cx="149171" cy="17830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936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1817095"/>
            <a:ext cx="1079527" cy="19202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08" b="1">
                <a:solidFill>
                  <a:srgbClr val="1A1A1A"/>
                </a:solidFill>
                <a:latin typeface="Arial"/>
              </a:rPr>
              <a:t>Search agents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24917" y="1832091"/>
            <a:ext cx="1118435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864" b="0">
                <a:solidFill>
                  <a:srgbClr val="757575"/>
                </a:solidFill>
                <a:latin typeface="Arial"/>
              </a:rPr>
              <a:t>Claude Sonnet 5.5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2075688"/>
            <a:ext cx="2084832" cy="237744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10972">
            <a:solidFill>
              <a:srgbClr val="BDBDB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7" name="Picture 26" descr="hand-heart_1A1A1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2138593"/>
            <a:ext cx="146304" cy="11193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24128" y="2115372"/>
            <a:ext cx="825487" cy="17830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936" b="0">
                <a:solidFill>
                  <a:srgbClr val="1A1A1A"/>
                </a:solidFill>
                <a:latin typeface="Arial"/>
              </a:rPr>
              <a:t>Foundations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743200" y="2194560"/>
            <a:ext cx="292608" cy="0"/>
          </a:xfrm>
          <a:prstGeom prst="line">
            <a:avLst/>
          </a:prstGeom>
          <a:ln w="13716">
            <a:solidFill>
              <a:srgbClr val="6E6E6E"/>
            </a:solidFill>
          </a:ln>
          <a:effectLst/>
        </p:spPr>
      </p:cxnSp>
      <p:sp>
        <p:nvSpPr>
          <p:cNvPr id="30" name="Rounded Rectangle 29"/>
          <p:cNvSpPr/>
          <p:nvPr/>
        </p:nvSpPr>
        <p:spPr>
          <a:xfrm>
            <a:off x="658368" y="2368296"/>
            <a:ext cx="2084832" cy="237744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10972">
            <a:solidFill>
              <a:srgbClr val="BDBDB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30" descr="users-three_1A1A1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" y="2433594"/>
            <a:ext cx="146304" cy="10714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24128" y="2407980"/>
            <a:ext cx="1676504" cy="17830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936" b="0">
                <a:solidFill>
                  <a:srgbClr val="1A1A1A"/>
                </a:solidFill>
                <a:latin typeface="Arial"/>
              </a:rPr>
              <a:t>Societies and conferences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743200" y="2487168"/>
            <a:ext cx="292608" cy="0"/>
          </a:xfrm>
          <a:prstGeom prst="line">
            <a:avLst/>
          </a:prstGeom>
          <a:ln w="13716">
            <a:solidFill>
              <a:srgbClr val="6E6E6E"/>
            </a:solidFill>
          </a:ln>
          <a:effectLst/>
        </p:spPr>
      </p:cxnSp>
      <p:sp>
        <p:nvSpPr>
          <p:cNvPr id="34" name="Rounded Rectangle 33"/>
          <p:cNvSpPr/>
          <p:nvPr/>
        </p:nvSpPr>
        <p:spPr>
          <a:xfrm>
            <a:off x="658368" y="2660904"/>
            <a:ext cx="2084832" cy="237744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10972">
            <a:solidFill>
              <a:srgbClr val="BDBDB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5" name="Picture 34" descr="graduation-cap_1A1A1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" y="2715768"/>
            <a:ext cx="146304" cy="12801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24128" y="2700588"/>
            <a:ext cx="1554647" cy="17830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936" b="0">
                <a:solidFill>
                  <a:srgbClr val="1A1A1A"/>
                </a:solidFill>
                <a:latin typeface="Arial"/>
              </a:rPr>
              <a:t>UNC and North Carolina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743200" y="2779776"/>
            <a:ext cx="292608" cy="0"/>
          </a:xfrm>
          <a:prstGeom prst="line">
            <a:avLst/>
          </a:prstGeom>
          <a:ln w="13716">
            <a:solidFill>
              <a:srgbClr val="6E6E6E"/>
            </a:solidFill>
          </a:ln>
          <a:effectLst/>
        </p:spPr>
      </p:cxnSp>
      <p:sp>
        <p:nvSpPr>
          <p:cNvPr id="38" name="Rounded Rectangle 37"/>
          <p:cNvSpPr/>
          <p:nvPr/>
        </p:nvSpPr>
        <p:spPr>
          <a:xfrm>
            <a:off x="658368" y="2953512"/>
            <a:ext cx="2084832" cy="237744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10972">
            <a:solidFill>
              <a:srgbClr val="BDBDB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9" name="Picture 38" descr="medal_1A1A1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714" y="2999232"/>
            <a:ext cx="107066" cy="14630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24128" y="2993196"/>
            <a:ext cx="1372426" cy="17830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936" b="0">
                <a:solidFill>
                  <a:srgbClr val="1A1A1A"/>
                </a:solidFill>
                <a:latin typeface="Arial"/>
              </a:rPr>
              <a:t>National scholarships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743200" y="3072384"/>
            <a:ext cx="292608" cy="0"/>
          </a:xfrm>
          <a:prstGeom prst="line">
            <a:avLst/>
          </a:prstGeom>
          <a:ln w="13716">
            <a:solidFill>
              <a:srgbClr val="6E6E6E"/>
            </a:solidFill>
          </a:ln>
          <a:effectLst/>
        </p:spPr>
      </p:cxnSp>
      <p:sp>
        <p:nvSpPr>
          <p:cNvPr id="42" name="Rounded Rectangle 41"/>
          <p:cNvSpPr/>
          <p:nvPr/>
        </p:nvSpPr>
        <p:spPr>
          <a:xfrm>
            <a:off x="658368" y="3246120"/>
            <a:ext cx="2084832" cy="237744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10972">
            <a:solidFill>
              <a:srgbClr val="BDBDB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3" name="Picture 42" descr="factory_1A1A1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8096" y="3297065"/>
            <a:ext cx="146304" cy="135853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024128" y="3285804"/>
            <a:ext cx="1045813" cy="17830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936" b="0">
                <a:solidFill>
                  <a:srgbClr val="1A1A1A"/>
                </a:solidFill>
                <a:latin typeface="Arial"/>
              </a:rPr>
              <a:t>Industry funding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743200" y="3364992"/>
            <a:ext cx="292608" cy="0"/>
          </a:xfrm>
          <a:prstGeom prst="line">
            <a:avLst/>
          </a:prstGeom>
          <a:ln w="13716">
            <a:solidFill>
              <a:srgbClr val="6E6E6E"/>
            </a:solidFill>
          </a:ln>
          <a:effectLst/>
        </p:spPr>
      </p:cxnSp>
      <p:sp>
        <p:nvSpPr>
          <p:cNvPr id="46" name="Rounded Rectangle 45"/>
          <p:cNvSpPr/>
          <p:nvPr/>
        </p:nvSpPr>
        <p:spPr>
          <a:xfrm>
            <a:off x="658368" y="3538728"/>
            <a:ext cx="2084832" cy="237744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10972">
            <a:solidFill>
              <a:srgbClr val="BDBDB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7" name="Picture 46" descr="trophy_1A1A1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8096" y="3599078"/>
            <a:ext cx="146304" cy="117043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024128" y="3578412"/>
            <a:ext cx="1539545" cy="17830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936" b="0">
                <a:solidFill>
                  <a:srgbClr val="1A1A1A"/>
                </a:solidFill>
                <a:latin typeface="Arial"/>
              </a:rPr>
              <a:t>Competitions and prizes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2743200" y="3657600"/>
            <a:ext cx="292608" cy="0"/>
          </a:xfrm>
          <a:prstGeom prst="line">
            <a:avLst/>
          </a:prstGeom>
          <a:ln w="13716">
            <a:solidFill>
              <a:srgbClr val="6E6E6E"/>
            </a:solidFill>
          </a:ln>
          <a:effectLst/>
        </p:spPr>
      </p:cxnSp>
      <p:sp>
        <p:nvSpPr>
          <p:cNvPr id="50" name="Oval 49"/>
          <p:cNvSpPr/>
          <p:nvPr/>
        </p:nvSpPr>
        <p:spPr>
          <a:xfrm>
            <a:off x="347472" y="3968496"/>
            <a:ext cx="219456" cy="21945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82614" y="3999768"/>
            <a:ext cx="149171" cy="17830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936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8368" y="3959352"/>
            <a:ext cx="2084832" cy="237744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10972">
            <a:solidFill>
              <a:srgbClr val="BDBDB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3" name="Picture 52" descr="envelope-simple_1A1A1A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8096" y="4021953"/>
            <a:ext cx="146304" cy="112541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024128" y="3999036"/>
            <a:ext cx="779734" cy="17830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936" b="0">
                <a:solidFill>
                  <a:srgbClr val="1A1A1A"/>
                </a:solidFill>
                <a:latin typeface="Arial"/>
              </a:rPr>
              <a:t>Email leads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2743200" y="4078224"/>
            <a:ext cx="292608" cy="0"/>
          </a:xfrm>
          <a:prstGeom prst="line">
            <a:avLst/>
          </a:prstGeom>
          <a:ln w="13716">
            <a:solidFill>
              <a:srgbClr val="6E6E6E"/>
            </a:solidFill>
          </a:ln>
          <a:effectLst/>
        </p:spPr>
      </p:cxnSp>
      <p:cxnSp>
        <p:nvCxnSpPr>
          <p:cNvPr id="56" name="Connector 55"/>
          <p:cNvCxnSpPr/>
          <p:nvPr/>
        </p:nvCxnSpPr>
        <p:spPr>
          <a:xfrm>
            <a:off x="3035808" y="932688"/>
            <a:ext cx="0" cy="3145536"/>
          </a:xfrm>
          <a:prstGeom prst="line">
            <a:avLst/>
          </a:prstGeom>
          <a:ln w="13716">
            <a:solidFill>
              <a:srgbClr val="6E6E6E"/>
            </a:solidFill>
          </a:ln>
          <a:effectLst/>
        </p:spPr>
      </p:cxnSp>
      <p:cxnSp>
        <p:nvCxnSpPr>
          <p:cNvPr id="57" name="Connector 56"/>
          <p:cNvCxnSpPr/>
          <p:nvPr/>
        </p:nvCxnSpPr>
        <p:spPr>
          <a:xfrm>
            <a:off x="3035808" y="2286000"/>
            <a:ext cx="850392" cy="0"/>
          </a:xfrm>
          <a:prstGeom prst="line">
            <a:avLst/>
          </a:prstGeom>
          <a:ln w="13716">
            <a:solidFill>
              <a:srgbClr val="6E6E6E"/>
            </a:solidFill>
          </a:ln>
          <a:effectLst/>
        </p:spPr>
      </p:cxnSp>
      <p:sp>
        <p:nvSpPr>
          <p:cNvPr id="58" name="Freeform 57"/>
          <p:cNvSpPr/>
          <p:nvPr/>
        </p:nvSpPr>
        <p:spPr>
          <a:xfrm>
            <a:off x="3886200" y="2246315"/>
            <a:ext cx="64008" cy="79369"/>
          </a:xfrm>
          <a:custGeom>
            <a:avLst/>
            <a:gdLst/>
            <a:ahLst/>
            <a:cxnLst/>
            <a:rect l="l" t="t" r="r" b="b"/>
            <a:pathLst>
              <a:path w="64008" h="79369">
                <a:moveTo>
                  <a:pt x="64008" y="39685"/>
                </a:moveTo>
                <a:lnTo>
                  <a:pt x="0" y="0"/>
                </a:lnTo>
                <a:lnTo>
                  <a:pt x="0" y="79369"/>
                </a:lnTo>
                <a:close/>
              </a:path>
            </a:pathLst>
          </a:custGeom>
          <a:solidFill>
            <a:srgbClr val="6E6E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3950208" y="1883664"/>
            <a:ext cx="1901952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801">
            <a:solidFill>
              <a:srgbClr val="1A1A1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041648" y="2011680"/>
            <a:ext cx="219456" cy="21945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076790" y="2042952"/>
            <a:ext cx="149171" cy="17830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936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34256" y="2036551"/>
            <a:ext cx="1480099" cy="19202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08" b="1">
                <a:solidFill>
                  <a:srgbClr val="1A1A1A"/>
                </a:solidFill>
                <a:latin typeface="Arial"/>
              </a:rPr>
              <a:t>Independent verifier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34256" y="2228941"/>
            <a:ext cx="1020108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864" b="0">
                <a:solidFill>
                  <a:srgbClr val="757575"/>
                </a:solidFill>
                <a:latin typeface="Arial"/>
              </a:rPr>
              <a:t>Claude Opus 5.5</a:t>
            </a:r>
          </a:p>
        </p:txBody>
      </p:sp>
      <p:pic>
        <p:nvPicPr>
          <p:cNvPr id="64" name="Picture 63" descr="shield-check_1A1A1A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99438" y="2651760"/>
            <a:ext cx="140451" cy="146304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4334256" y="2557942"/>
            <a:ext cx="1167201" cy="17830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936" b="0">
                <a:solidFill>
                  <a:srgbClr val="1A1A1A"/>
                </a:solidFill>
                <a:latin typeface="Arial"/>
              </a:rPr>
              <a:t>9 eligibility checks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34256" y="2741005"/>
            <a:ext cx="1228336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864" b="0">
                <a:solidFill>
                  <a:srgbClr val="757575"/>
                </a:solidFill>
                <a:latin typeface="Arial"/>
              </a:rPr>
              <a:t>on each official page</a:t>
            </a:r>
          </a:p>
        </p:txBody>
      </p:sp>
      <p:cxnSp>
        <p:nvCxnSpPr>
          <p:cNvPr id="67" name="Connector 66"/>
          <p:cNvCxnSpPr/>
          <p:nvPr/>
        </p:nvCxnSpPr>
        <p:spPr>
          <a:xfrm flipH="1">
            <a:off x="3127248" y="2852928"/>
            <a:ext cx="822960" cy="0"/>
          </a:xfrm>
          <a:prstGeom prst="line">
            <a:avLst/>
          </a:prstGeom>
          <a:ln w="13716">
            <a:solidFill>
              <a:srgbClr val="B0B0B0"/>
            </a:solidFill>
            <a:prstDash val="dash"/>
          </a:ln>
          <a:effectLst/>
        </p:spPr>
      </p:cxnSp>
      <p:sp>
        <p:nvSpPr>
          <p:cNvPr id="68" name="Freeform 67"/>
          <p:cNvSpPr/>
          <p:nvPr/>
        </p:nvSpPr>
        <p:spPr>
          <a:xfrm>
            <a:off x="3063240" y="2813243"/>
            <a:ext cx="64008" cy="79369"/>
          </a:xfrm>
          <a:custGeom>
            <a:avLst/>
            <a:gdLst/>
            <a:ahLst/>
            <a:cxnLst/>
            <a:rect l="l" t="t" r="r" b="b"/>
            <a:pathLst>
              <a:path w="64008" h="79369">
                <a:moveTo>
                  <a:pt x="0" y="39685"/>
                </a:moveTo>
                <a:lnTo>
                  <a:pt x="64008" y="79369"/>
                </a:lnTo>
                <a:lnTo>
                  <a:pt x="64008" y="0"/>
                </a:lnTo>
                <a:close/>
              </a:path>
            </a:pathLst>
          </a:custGeom>
          <a:solidFill>
            <a:srgbClr val="B0B0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392424" y="2752344"/>
            <a:ext cx="201168" cy="2011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421346" y="2780507"/>
            <a:ext cx="143323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864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123307" y="2997037"/>
            <a:ext cx="739400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864" b="0">
                <a:solidFill>
                  <a:srgbClr val="757575"/>
                </a:solidFill>
                <a:latin typeface="Arial"/>
              </a:rPr>
              <a:t>retry agents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5852160" y="2487168"/>
            <a:ext cx="310896" cy="0"/>
          </a:xfrm>
          <a:prstGeom prst="line">
            <a:avLst/>
          </a:prstGeom>
          <a:ln w="13716">
            <a:solidFill>
              <a:srgbClr val="6E6E6E"/>
            </a:solidFill>
          </a:ln>
          <a:effectLst/>
        </p:spPr>
      </p:cxnSp>
      <p:cxnSp>
        <p:nvCxnSpPr>
          <p:cNvPr id="73" name="Connector 72"/>
          <p:cNvCxnSpPr/>
          <p:nvPr/>
        </p:nvCxnSpPr>
        <p:spPr>
          <a:xfrm>
            <a:off x="6163056" y="1883664"/>
            <a:ext cx="0" cy="1207008"/>
          </a:xfrm>
          <a:prstGeom prst="line">
            <a:avLst/>
          </a:prstGeom>
          <a:ln w="13716">
            <a:solidFill>
              <a:srgbClr val="6E6E6E"/>
            </a:solidFill>
          </a:ln>
          <a:effectLst/>
        </p:spPr>
      </p:cxnSp>
      <p:cxnSp>
        <p:nvCxnSpPr>
          <p:cNvPr id="74" name="Connector 73"/>
          <p:cNvCxnSpPr/>
          <p:nvPr/>
        </p:nvCxnSpPr>
        <p:spPr>
          <a:xfrm>
            <a:off x="6163056" y="1883664"/>
            <a:ext cx="192024" cy="0"/>
          </a:xfrm>
          <a:prstGeom prst="line">
            <a:avLst/>
          </a:prstGeom>
          <a:ln w="13716">
            <a:solidFill>
              <a:srgbClr val="6E6E6E"/>
            </a:solidFill>
          </a:ln>
          <a:effectLst/>
        </p:spPr>
      </p:cxnSp>
      <p:sp>
        <p:nvSpPr>
          <p:cNvPr id="75" name="Freeform 74"/>
          <p:cNvSpPr/>
          <p:nvPr/>
        </p:nvSpPr>
        <p:spPr>
          <a:xfrm>
            <a:off x="6355080" y="1843979"/>
            <a:ext cx="64008" cy="79369"/>
          </a:xfrm>
          <a:custGeom>
            <a:avLst/>
            <a:gdLst/>
            <a:ahLst/>
            <a:cxnLst/>
            <a:rect l="l" t="t" r="r" b="b"/>
            <a:pathLst>
              <a:path w="64008" h="79369">
                <a:moveTo>
                  <a:pt x="64008" y="39685"/>
                </a:moveTo>
                <a:lnTo>
                  <a:pt x="0" y="0"/>
                </a:lnTo>
                <a:lnTo>
                  <a:pt x="0" y="79369"/>
                </a:lnTo>
                <a:close/>
              </a:path>
            </a:pathLst>
          </a:custGeom>
          <a:solidFill>
            <a:srgbClr val="6E6E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419088" y="1719072"/>
            <a:ext cx="1353312" cy="329184"/>
          </a:xfrm>
          <a:prstGeom prst="roundRect">
            <a:avLst>
              <a:gd name="adj" fmla="val 25000"/>
            </a:avLst>
          </a:prstGeom>
          <a:solidFill>
            <a:srgbClr val="E9F3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816114" y="1804019"/>
            <a:ext cx="559258" cy="17830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936" b="1">
                <a:solidFill>
                  <a:srgbClr val="2E7D32"/>
                </a:solidFill>
                <a:latin typeface="Arial"/>
              </a:rPr>
              <a:t>Eligible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6163056" y="2487168"/>
            <a:ext cx="192024" cy="0"/>
          </a:xfrm>
          <a:prstGeom prst="line">
            <a:avLst/>
          </a:prstGeom>
          <a:ln w="13716">
            <a:solidFill>
              <a:srgbClr val="6E6E6E"/>
            </a:solidFill>
          </a:ln>
          <a:effectLst/>
        </p:spPr>
      </p:cxnSp>
      <p:sp>
        <p:nvSpPr>
          <p:cNvPr id="79" name="Freeform 78"/>
          <p:cNvSpPr/>
          <p:nvPr/>
        </p:nvSpPr>
        <p:spPr>
          <a:xfrm>
            <a:off x="6355080" y="2447483"/>
            <a:ext cx="64008" cy="79369"/>
          </a:xfrm>
          <a:custGeom>
            <a:avLst/>
            <a:gdLst/>
            <a:ahLst/>
            <a:cxnLst/>
            <a:rect l="l" t="t" r="r" b="b"/>
            <a:pathLst>
              <a:path w="64008" h="79369">
                <a:moveTo>
                  <a:pt x="64008" y="39685"/>
                </a:moveTo>
                <a:lnTo>
                  <a:pt x="0" y="0"/>
                </a:lnTo>
                <a:lnTo>
                  <a:pt x="0" y="79369"/>
                </a:lnTo>
                <a:close/>
              </a:path>
            </a:pathLst>
          </a:custGeom>
          <a:solidFill>
            <a:srgbClr val="6E6E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6419088" y="2322576"/>
            <a:ext cx="1353312" cy="329184"/>
          </a:xfrm>
          <a:prstGeom prst="roundRect">
            <a:avLst>
              <a:gd name="adj" fmla="val 25000"/>
            </a:avLst>
          </a:prstGeom>
          <a:solidFill>
            <a:srgbClr val="F2F2F2"/>
          </a:solidFill>
          <a:ln w="9144">
            <a:solidFill>
              <a:srgbClr val="BDBDB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516158" y="2407980"/>
            <a:ext cx="1159170" cy="17830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936" b="1">
                <a:solidFill>
                  <a:srgbClr val="757575"/>
                </a:solidFill>
                <a:latin typeface="Arial"/>
              </a:rPr>
              <a:t>Confirm one fact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6163056" y="3090672"/>
            <a:ext cx="192024" cy="0"/>
          </a:xfrm>
          <a:prstGeom prst="line">
            <a:avLst/>
          </a:prstGeom>
          <a:ln w="13716">
            <a:solidFill>
              <a:srgbClr val="6E6E6E"/>
            </a:solidFill>
          </a:ln>
          <a:effectLst/>
        </p:spPr>
      </p:cxnSp>
      <p:sp>
        <p:nvSpPr>
          <p:cNvPr id="83" name="Freeform 82"/>
          <p:cNvSpPr/>
          <p:nvPr/>
        </p:nvSpPr>
        <p:spPr>
          <a:xfrm>
            <a:off x="6355080" y="3050987"/>
            <a:ext cx="64008" cy="79369"/>
          </a:xfrm>
          <a:custGeom>
            <a:avLst/>
            <a:gdLst/>
            <a:ahLst/>
            <a:cxnLst/>
            <a:rect l="l" t="t" r="r" b="b"/>
            <a:pathLst>
              <a:path w="64008" h="79369">
                <a:moveTo>
                  <a:pt x="64008" y="39685"/>
                </a:moveTo>
                <a:lnTo>
                  <a:pt x="0" y="0"/>
                </a:lnTo>
                <a:lnTo>
                  <a:pt x="0" y="79369"/>
                </a:lnTo>
                <a:close/>
              </a:path>
            </a:pathLst>
          </a:custGeom>
          <a:solidFill>
            <a:srgbClr val="6E6E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6419088" y="2926080"/>
            <a:ext cx="1353312" cy="329184"/>
          </a:xfrm>
          <a:prstGeom prst="roundRect">
            <a:avLst>
              <a:gd name="adj" fmla="val 25000"/>
            </a:avLst>
          </a:prstGeom>
          <a:solidFill>
            <a:srgbClr val="FBEA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744068" y="3011027"/>
            <a:ext cx="703351" cy="17830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936" b="1">
                <a:solidFill>
                  <a:srgbClr val="C62828"/>
                </a:solidFill>
                <a:latin typeface="Arial"/>
              </a:rPr>
              <a:t>Ruled out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211312" y="1664208"/>
            <a:ext cx="1572768" cy="1042416"/>
          </a:xfrm>
          <a:prstGeom prst="roundRect">
            <a:avLst>
              <a:gd name="adj" fmla="val 7894"/>
            </a:avLst>
          </a:prstGeom>
          <a:solidFill>
            <a:srgbClr val="FFFFFF"/>
          </a:solidFill>
          <a:ln w="12801">
            <a:solidFill>
              <a:srgbClr val="1A1A1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8302752" y="1792224"/>
            <a:ext cx="219456" cy="21945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337894" y="1823496"/>
            <a:ext cx="149171" cy="17830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936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595360" y="1817095"/>
            <a:ext cx="597019" cy="19202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08" b="1">
                <a:solidFill>
                  <a:srgbClr val="1A1A1A"/>
                </a:solidFill>
                <a:latin typeface="Arial"/>
              </a:rPr>
              <a:t>Tracker</a:t>
            </a:r>
          </a:p>
        </p:txBody>
      </p:sp>
      <p:pic>
        <p:nvPicPr>
          <p:cNvPr id="90" name="Picture 89" descr="list-checks_1A1A1A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57616" y="2246550"/>
            <a:ext cx="146304" cy="133763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8595360" y="2155789"/>
            <a:ext cx="1062124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864" b="0">
                <a:solidFill>
                  <a:srgbClr val="757575"/>
                </a:solidFill>
                <a:latin typeface="Arial"/>
              </a:rPr>
              <a:t>you set the status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595360" y="2338669"/>
            <a:ext cx="932269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864" b="0">
                <a:solidFill>
                  <a:srgbClr val="757575"/>
                </a:solidFill>
                <a:latin typeface="Arial"/>
              </a:rPr>
              <a:t>+ weekly report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7772400" y="1883664"/>
            <a:ext cx="374904" cy="0"/>
          </a:xfrm>
          <a:prstGeom prst="line">
            <a:avLst/>
          </a:prstGeom>
          <a:ln w="13716">
            <a:solidFill>
              <a:srgbClr val="6E6E6E"/>
            </a:solidFill>
          </a:ln>
          <a:effectLst/>
        </p:spPr>
      </p:cxnSp>
      <p:sp>
        <p:nvSpPr>
          <p:cNvPr id="94" name="Freeform 93"/>
          <p:cNvSpPr/>
          <p:nvPr/>
        </p:nvSpPr>
        <p:spPr>
          <a:xfrm>
            <a:off x="8147304" y="1843979"/>
            <a:ext cx="64008" cy="79369"/>
          </a:xfrm>
          <a:custGeom>
            <a:avLst/>
            <a:gdLst/>
            <a:ahLst/>
            <a:cxnLst/>
            <a:rect l="l" t="t" r="r" b="b"/>
            <a:pathLst>
              <a:path w="64008" h="79369">
                <a:moveTo>
                  <a:pt x="64008" y="39685"/>
                </a:moveTo>
                <a:lnTo>
                  <a:pt x="0" y="0"/>
                </a:lnTo>
                <a:lnTo>
                  <a:pt x="0" y="79369"/>
                </a:lnTo>
                <a:close/>
              </a:path>
            </a:pathLst>
          </a:custGeom>
          <a:solidFill>
            <a:srgbClr val="6E6E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5" name="Connector 94"/>
          <p:cNvCxnSpPr/>
          <p:nvPr/>
        </p:nvCxnSpPr>
        <p:spPr>
          <a:xfrm>
            <a:off x="7772400" y="2487168"/>
            <a:ext cx="374904" cy="0"/>
          </a:xfrm>
          <a:prstGeom prst="line">
            <a:avLst/>
          </a:prstGeom>
          <a:ln w="13716">
            <a:solidFill>
              <a:srgbClr val="6E6E6E"/>
            </a:solidFill>
          </a:ln>
          <a:effectLst/>
        </p:spPr>
      </p:cxnSp>
      <p:sp>
        <p:nvSpPr>
          <p:cNvPr id="96" name="Freeform 95"/>
          <p:cNvSpPr/>
          <p:nvPr/>
        </p:nvSpPr>
        <p:spPr>
          <a:xfrm>
            <a:off x="8147304" y="2447483"/>
            <a:ext cx="64008" cy="79369"/>
          </a:xfrm>
          <a:custGeom>
            <a:avLst/>
            <a:gdLst/>
            <a:ahLst/>
            <a:cxnLst/>
            <a:rect l="l" t="t" r="r" b="b"/>
            <a:pathLst>
              <a:path w="64008" h="79369">
                <a:moveTo>
                  <a:pt x="64008" y="39685"/>
                </a:moveTo>
                <a:lnTo>
                  <a:pt x="0" y="0"/>
                </a:lnTo>
                <a:lnTo>
                  <a:pt x="0" y="79369"/>
                </a:lnTo>
                <a:close/>
              </a:path>
            </a:pathLst>
          </a:custGeom>
          <a:solidFill>
            <a:srgbClr val="6E6E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8211312" y="2871216"/>
            <a:ext cx="1572768" cy="438912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972">
            <a:solidFill>
              <a:srgbClr val="BDBDB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8" name="Picture 97" descr="prohibit_1A1A1A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57616" y="3017520"/>
            <a:ext cx="146304" cy="146304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8595360" y="2932663"/>
            <a:ext cx="1013532" cy="19202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08" b="1">
                <a:solidFill>
                  <a:srgbClr val="1A1A1A"/>
                </a:solidFill>
                <a:latin typeface="Arial"/>
              </a:rPr>
              <a:t>Ruled-out list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595360" y="3115909"/>
            <a:ext cx="1012891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864" b="0">
                <a:solidFill>
                  <a:srgbClr val="757575"/>
                </a:solidFill>
                <a:latin typeface="Arial"/>
              </a:rPr>
              <a:t>never resurfaces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7772400" y="3090672"/>
            <a:ext cx="374904" cy="0"/>
          </a:xfrm>
          <a:prstGeom prst="line">
            <a:avLst/>
          </a:prstGeom>
          <a:ln w="13716">
            <a:solidFill>
              <a:srgbClr val="6E6E6E"/>
            </a:solidFill>
          </a:ln>
          <a:effectLst/>
        </p:spPr>
      </p:cxnSp>
      <p:sp>
        <p:nvSpPr>
          <p:cNvPr id="102" name="Freeform 101"/>
          <p:cNvSpPr/>
          <p:nvPr/>
        </p:nvSpPr>
        <p:spPr>
          <a:xfrm>
            <a:off x="8147304" y="3050987"/>
            <a:ext cx="64008" cy="79369"/>
          </a:xfrm>
          <a:custGeom>
            <a:avLst/>
            <a:gdLst/>
            <a:ahLst/>
            <a:cxnLst/>
            <a:rect l="l" t="t" r="r" b="b"/>
            <a:pathLst>
              <a:path w="64008" h="79369">
                <a:moveTo>
                  <a:pt x="64008" y="39685"/>
                </a:moveTo>
                <a:lnTo>
                  <a:pt x="0" y="0"/>
                </a:lnTo>
                <a:lnTo>
                  <a:pt x="0" y="79369"/>
                </a:lnTo>
                <a:close/>
              </a:path>
            </a:pathLst>
          </a:custGeom>
          <a:solidFill>
            <a:srgbClr val="6E6E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